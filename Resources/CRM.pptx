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3953" userDrawn="1">
          <p15:clr>
            <a:srgbClr val="A4A3A4"/>
          </p15:clr>
        </p15:guide>
        <p15:guide id="4" orient="horz" pos="22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5568"/>
    <a:srgbClr val="2D3748"/>
    <a:srgbClr val="F7FAFC"/>
    <a:srgbClr val="EDF2F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247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>
        <p:guide orient="horz" pos="2160"/>
        <p:guide pos="3840"/>
        <p:guide pos="3953"/>
        <p:guide orient="horz" pos="22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F4FE2E-68FA-4209-8F27-51C9762A2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560F403-C6DF-44A9-A89D-96BE6AAE0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8DC6741-2D25-4EEA-A9A0-DC2A321E4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D8377B-BE4A-4DEE-9CA5-05EF6BD24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679E26-A137-4607-9120-0F0595D98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06761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49FE74-1094-49FF-9F09-E1ECC3D0B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29DE47-CC72-4F73-BAD1-BBECF4032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 sz="1800">
                <a:solidFill>
                  <a:srgbClr val="4A5568"/>
                </a:solidFill>
                <a:latin typeface="Inter 18pt Regular" panose="02000503000000020004" pitchFamily="2" charset="0"/>
                <a:ea typeface="Inter 18pt Regular" panose="02000503000000020004" pitchFamily="2" charset="0"/>
              </a:defRPr>
            </a:lvl2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E2F596-E67B-4CB3-9BC0-CFEB894C2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72091E-5AC9-4B92-8511-2CF7E1338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93965BC-30D8-411C-A558-8B876C61E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737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54377F-137F-4EDA-897F-899044881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C9316EE-72B1-44BD-861C-ABD8D2C10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EF43A1-FD0F-4E08-AA9C-CC0FC7B2E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5F7459-E3C9-40A8-B04C-0F8836893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C4F8ED-AF18-46A9-A05E-759F55D4C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721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22F3A9-C516-4710-B76D-137A3891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90D1C33-0E1D-4EDB-860A-6D675724CF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200F756-DBB8-4BE6-9F2B-9D14B1642A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4D6B986-BCBB-4DFE-937E-7583C0DF3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854224E-CBC2-4BF7-BB2D-FEDF91EDC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9B4D565-E70F-46FB-AFF9-28E482D85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8565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15140A-C76B-454D-825C-1111DAD9C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18AA493-60F9-4982-BF4C-C1ED54A37E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F4F71A2-27F9-4F02-886C-F5CD52D6B9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604284B-D564-4559-A4C4-C4CB80E5AA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FA423D8-B279-451D-A1A0-9AFFE732AB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EDE60CB-F085-4367-885B-11B1BF32A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62B908C-8C33-4273-A4C2-9A5C4EE33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073AFC9-6BC0-482F-8217-080CFA689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0419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FA867-27B9-4BEE-B60E-C77C90246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768A681-4CB0-4ED6-B7C4-A61276A89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D8D5D5A-8575-42D5-B659-ACE097E34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5102A37-0B29-485B-B273-3522F29BC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671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B07ADE8-3248-45AF-9313-AADE932FF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42C8437-F11A-4024-A59A-2803C397E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C84809E-7837-4B5A-A93B-E3464EB34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23908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008C0B-02F0-4889-B846-0E4F5F3EF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BB28178-9564-4F56-9C12-31804AC737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18D2379-9B25-4BC5-9193-2F1FD098A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C6F111C-FFF9-43F3-9F37-7C6C4EB55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D98C1C4-641B-45D6-A490-148127428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F5D274C-B66A-4B59-BCFE-CE66B552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5830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4E1308-A4EF-4B56-9340-CA63B4570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5369671-5788-4EBC-9F98-919F18F33E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FBB90F9-1941-47A7-9DDE-0919A86270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71E5F3D-6445-416D-81C5-22484D22B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BCED713-9DE8-483B-A718-786A280C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C5295AD-5682-4140-898B-66648EA9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5989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60456-3A90-4227-8CE1-DD28425E0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0F485E7-A1D7-4224-AA92-67902D41D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20BF97E-A7EF-4273-875E-1BA4E0B33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0F275A-53C7-430C-B66B-EB9860B82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2DA9E9-4BDF-4595-8942-623E9EFC0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0205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64F3295-A005-40C0-AFBB-6CD144AA0D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733BA36-C6E9-43E0-BF27-1B347FCD67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DB0C8E-1B5F-4BD9-BA85-41FEC4300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2DE3BCB-8B9F-4B54-A052-5D12019ED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64666B-1D3E-438B-B414-59FB8E06F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043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1DE7FD-4409-4771-AB68-3EA978AFD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CD63FB1-E355-4F5B-B3C1-2EF0B3F761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D9F66E-F151-4998-B90A-6A7FC2ECE2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C586C-46CD-4213-A7C8-EE86E18B4B1F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AD0D6F-8398-499C-8B4F-1A732F6FA7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6BB316A-B277-4B90-950F-711C2C0EF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BC3AB-DD49-41CF-9BEE-3CB38A2C43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5412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2D3748"/>
          </a:solidFill>
          <a:effectLst/>
          <a:latin typeface="Montserrat SemiBold" panose="020F0502020204030204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4A5568"/>
          </a:solidFill>
          <a:latin typeface="Inter 24pt Regular" panose="02000503000000020004" pitchFamily="2" charset="0"/>
          <a:ea typeface="Inter 24pt Regular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F7FAFC">
                <a:alpha val="0"/>
              </a:srgbClr>
            </a:gs>
            <a:gs pos="0">
              <a:schemeClr val="accent1">
                <a:lumMod val="5000"/>
                <a:lumOff val="9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A0C3D9-32D8-43BF-930C-938EF22910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2844" y="1314762"/>
            <a:ext cx="11566311" cy="1397000"/>
          </a:xfrm>
        </p:spPr>
        <p:txBody>
          <a:bodyPr>
            <a:noAutofit/>
          </a:bodyPr>
          <a:lstStyle/>
          <a:p>
            <a:r>
              <a:rPr lang="ru-RU" sz="4800" dirty="0">
                <a:cs typeface="Times New Roman" panose="02020603050405020304" pitchFamily="18" charset="0"/>
              </a:rPr>
              <a:t>Разработка веб-ориентированной </a:t>
            </a:r>
            <a:r>
              <a:rPr lang="en-US" sz="4800" dirty="0">
                <a:cs typeface="Times New Roman" panose="02020603050405020304" pitchFamily="18" charset="0"/>
              </a:rPr>
              <a:t>CRM-</a:t>
            </a:r>
            <a:r>
              <a:rPr lang="ru-RU" sz="4800" dirty="0">
                <a:cs typeface="Times New Roman" panose="02020603050405020304" pitchFamily="18" charset="0"/>
              </a:rPr>
              <a:t>системы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5D88EDC-92BF-4D5B-B1CE-30B7AD0A0D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9" y="5643717"/>
            <a:ext cx="6096000" cy="663677"/>
          </a:xfrm>
        </p:spPr>
        <p:txBody>
          <a:bodyPr>
            <a:noAutofit/>
          </a:bodyPr>
          <a:lstStyle/>
          <a:p>
            <a:pPr algn="l"/>
            <a:r>
              <a:rPr lang="ru-RU" dirty="0">
                <a:cs typeface="Times New Roman" panose="02020603050405020304" pitchFamily="18" charset="0"/>
              </a:rPr>
              <a:t>Выполнил</a:t>
            </a:r>
            <a:r>
              <a:rPr lang="en-US" dirty="0">
                <a:cs typeface="Times New Roman" panose="02020603050405020304" pitchFamily="18" charset="0"/>
              </a:rPr>
              <a:t>:</a:t>
            </a:r>
            <a:r>
              <a:rPr lang="ru-RU" dirty="0">
                <a:cs typeface="Times New Roman" panose="02020603050405020304" pitchFamily="18" charset="0"/>
              </a:rPr>
              <a:t> Сахарчук Даниил Игоревич Группа</a:t>
            </a:r>
            <a:r>
              <a:rPr lang="en-US" dirty="0">
                <a:cs typeface="Times New Roman" panose="02020603050405020304" pitchFamily="18" charset="0"/>
              </a:rPr>
              <a:t>: </a:t>
            </a:r>
            <a:r>
              <a:rPr lang="ru-RU" dirty="0">
                <a:cs typeface="Times New Roman" panose="02020603050405020304" pitchFamily="18" charset="0"/>
              </a:rPr>
              <a:t>П29</a:t>
            </a:r>
          </a:p>
        </p:txBody>
      </p:sp>
    </p:spTree>
    <p:extLst>
      <p:ext uri="{BB962C8B-B14F-4D97-AF65-F5344CB8AC3E}">
        <p14:creationId xmlns:p14="http://schemas.microsoft.com/office/powerpoint/2010/main" val="4143921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951FD-4495-4752-AB78-B707E1939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928" y="548640"/>
            <a:ext cx="6442640" cy="713232"/>
          </a:xfrm>
        </p:spPr>
        <p:txBody>
          <a:bodyPr/>
          <a:lstStyle/>
          <a:p>
            <a:r>
              <a:rPr lang="ru-RU" dirty="0">
                <a:cs typeface="Times New Roman" panose="02020603050405020304" pitchFamily="18" charset="0"/>
              </a:rPr>
              <a:t>Актуальность и Цели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B85A53-4046-4228-BAFC-87A350C897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928" y="2022856"/>
            <a:ext cx="11385943" cy="5283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cs typeface="Times New Roman" panose="02020603050405020304" pitchFamily="18" charset="0"/>
              </a:rPr>
              <a:t>Проблема:</a:t>
            </a:r>
            <a:r>
              <a:rPr lang="ru-RU" dirty="0">
                <a:cs typeface="Times New Roman" panose="02020603050405020304" pitchFamily="18" charset="0"/>
              </a:rPr>
              <a:t> Перегруженность менеджеров рутиной, потеря истории взаимодействий с клиентами, сложность контроля воронки.</a:t>
            </a:r>
          </a:p>
          <a:p>
            <a:pPr marL="0" indent="0">
              <a:buNone/>
            </a:pPr>
            <a:r>
              <a:rPr lang="ru-RU" b="1" dirty="0">
                <a:cs typeface="Times New Roman" panose="02020603050405020304" pitchFamily="18" charset="0"/>
              </a:rPr>
              <a:t>Цель проекта:</a:t>
            </a:r>
            <a:r>
              <a:rPr lang="ru-RU" dirty="0">
                <a:cs typeface="Times New Roman" panose="02020603050405020304" pitchFamily="18" charset="0"/>
              </a:rPr>
              <a:t> Создание легковесной, отзывчивой CRM-системы для управления сделками и прозрачного логирования активности менеджеров.</a:t>
            </a:r>
          </a:p>
          <a:p>
            <a:pPr marL="0" indent="0">
              <a:buNone/>
            </a:pPr>
            <a:r>
              <a:rPr lang="ru-RU" b="1" dirty="0">
                <a:cs typeface="Times New Roman" panose="02020603050405020304" pitchFamily="18" charset="0"/>
              </a:rPr>
              <a:t>Задачи:</a:t>
            </a:r>
            <a:r>
              <a:rPr lang="ru-RU" dirty="0">
                <a:cs typeface="Times New Roman" panose="02020603050405020304" pitchFamily="18" charset="0"/>
              </a:rPr>
              <a:t> </a:t>
            </a:r>
          </a:p>
          <a:p>
            <a:r>
              <a:rPr lang="ru-RU" dirty="0">
                <a:cs typeface="Times New Roman" panose="02020603050405020304" pitchFamily="18" charset="0"/>
              </a:rPr>
              <a:t>Проектирование реляционной базы данных.</a:t>
            </a:r>
            <a:endParaRPr lang="en-US" dirty="0">
              <a:cs typeface="Times New Roman" panose="02020603050405020304" pitchFamily="18" charset="0"/>
            </a:endParaRPr>
          </a:p>
          <a:p>
            <a:r>
              <a:rPr lang="ru-RU" dirty="0">
                <a:cs typeface="Times New Roman" panose="02020603050405020304" pitchFamily="18" charset="0"/>
              </a:rPr>
              <a:t>Реализация интерактивной Канбан-доски с AJAX-синхронизацией.</a:t>
            </a:r>
            <a:endParaRPr lang="en-US" dirty="0">
              <a:cs typeface="Times New Roman" panose="02020603050405020304" pitchFamily="18" charset="0"/>
            </a:endParaRPr>
          </a:p>
          <a:p>
            <a:r>
              <a:rPr lang="ru-RU" dirty="0">
                <a:cs typeface="Times New Roman" panose="02020603050405020304" pitchFamily="18" charset="0"/>
              </a:rPr>
              <a:t>Внедрение сквозной подсистемы безопасности и ролевого доступа.</a:t>
            </a:r>
          </a:p>
        </p:txBody>
      </p:sp>
    </p:spTree>
    <p:extLst>
      <p:ext uri="{BB962C8B-B14F-4D97-AF65-F5344CB8AC3E}">
        <p14:creationId xmlns:p14="http://schemas.microsoft.com/office/powerpoint/2010/main" val="4074494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31C36C-01E7-44CA-87BE-A820CCBC6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568" y="566293"/>
            <a:ext cx="9796272" cy="677291"/>
          </a:xfrm>
        </p:spPr>
        <p:txBody>
          <a:bodyPr/>
          <a:lstStyle/>
          <a:p>
            <a:r>
              <a:rPr lang="ru-RU" dirty="0">
                <a:cs typeface="Times New Roman" panose="02020603050405020304" pitchFamily="18" charset="0"/>
              </a:rPr>
              <a:t>Технологический стек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088D8D9-18AF-4B4A-9D03-7D7C577CB7A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9309" y="2097088"/>
            <a:ext cx="11933382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2400" b="1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Бэкенд: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 .NET 10 (ASP.NET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Core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 MVC),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Entity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Framework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Core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 10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2400" b="1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База данных: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PostgreSQL</a:t>
            </a:r>
            <a:endParaRPr kumimoji="0" lang="ru-RU" altLang="ru-RU" sz="2400" b="0" i="0" u="none" strike="noStrike" cap="none" normalizeH="0" baseline="0" dirty="0">
              <a:ln>
                <a:noFill/>
              </a:ln>
              <a:effectLst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2400" b="1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Фронтенд</a:t>
            </a:r>
            <a:r>
              <a:rPr kumimoji="0" lang="ru-RU" altLang="ru-RU" sz="2400" b="1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: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Razor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Views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,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Bootstrap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 5,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htmx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,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jQuery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, Sortable.js, Chart.js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2400" b="1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Архитектурный подход: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 Гибридный (Server-Side 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effectLst/>
                <a:cs typeface="Times New Roman" panose="02020603050405020304" pitchFamily="18" charset="0"/>
              </a:rPr>
              <a:t>Rendering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effectLst/>
                <a:cs typeface="Times New Roman" panose="02020603050405020304" pitchFamily="18" charset="0"/>
              </a:rPr>
              <a:t> + реактивные компоненты без тяжелых JS-фреймворков).</a:t>
            </a:r>
          </a:p>
        </p:txBody>
      </p:sp>
    </p:spTree>
    <p:extLst>
      <p:ext uri="{BB962C8B-B14F-4D97-AF65-F5344CB8AC3E}">
        <p14:creationId xmlns:p14="http://schemas.microsoft.com/office/powerpoint/2010/main" val="3794416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5B340E-3ABD-18F8-3F9F-821EB6EFD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базы данных и подсистема безопасности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5DBDF8-0574-FFC3-0D54-7D75DC1F33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7903" y="2070250"/>
            <a:ext cx="4037162" cy="51673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Выделено 5 ключевых наборов данных (</a:t>
            </a:r>
            <a:r>
              <a:rPr lang="ru-RU" dirty="0" err="1"/>
              <a:t>DbSet</a:t>
            </a:r>
            <a:r>
              <a:rPr lang="ru-RU" dirty="0"/>
              <a:t>):</a:t>
            </a:r>
          </a:p>
          <a:p>
            <a:r>
              <a:rPr lang="ru-RU" dirty="0" err="1"/>
              <a:t>AppUser</a:t>
            </a:r>
            <a:r>
              <a:rPr lang="ru-RU" dirty="0"/>
              <a:t> (</a:t>
            </a:r>
            <a:r>
              <a:rPr lang="ru-RU" dirty="0" err="1"/>
              <a:t>кастомный</a:t>
            </a:r>
            <a:r>
              <a:rPr lang="ru-RU" dirty="0"/>
              <a:t> профиль сотрудника: имя, фамилия, связи).</a:t>
            </a:r>
          </a:p>
          <a:p>
            <a:r>
              <a:rPr lang="ru-RU" dirty="0"/>
              <a:t>Companies и </a:t>
            </a:r>
            <a:r>
              <a:rPr lang="ru-RU" dirty="0" err="1"/>
              <a:t>Contacts</a:t>
            </a:r>
            <a:r>
              <a:rPr lang="ru-RU" dirty="0"/>
              <a:t> (база клиентов).</a:t>
            </a:r>
          </a:p>
          <a:p>
            <a:r>
              <a:rPr lang="ru-RU" dirty="0" err="1"/>
              <a:t>Deals</a:t>
            </a:r>
            <a:r>
              <a:rPr lang="ru-RU" dirty="0"/>
              <a:t> (сделки с 4 фиксированными статусами).</a:t>
            </a:r>
          </a:p>
          <a:p>
            <a:r>
              <a:rPr lang="ru-RU" dirty="0" err="1"/>
              <a:t>Activities</a:t>
            </a:r>
            <a:r>
              <a:rPr lang="ru-RU" dirty="0"/>
              <a:t> (сквозной лог коммуникаций).</a:t>
            </a:r>
          </a:p>
          <a:p>
            <a:endParaRPr lang="ru-RU" dirty="0"/>
          </a:p>
        </p:txBody>
      </p:sp>
      <p:pic>
        <p:nvPicPr>
          <p:cNvPr id="5" name="Рисунок 4" descr="Изображение выглядит как текст, снимок экрана, диаграмма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62D4DBE-AEF9-2229-45DE-73E3FF0CD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935" y="2044362"/>
            <a:ext cx="7569515" cy="43994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4ABDEB7-8035-A3FC-045E-E952E37F0AFD}"/>
              </a:ext>
            </a:extLst>
          </p:cNvPr>
          <p:cNvSpPr txBox="1"/>
          <p:nvPr/>
        </p:nvSpPr>
        <p:spPr>
          <a:xfrm>
            <a:off x="71888" y="1582697"/>
            <a:ext cx="120482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400" dirty="0">
                <a:solidFill>
                  <a:srgbClr val="4A5568"/>
                </a:solidFill>
                <a:latin typeface="Inter 24pt Regular" panose="02000503000000020004" pitchFamily="2" charset="0"/>
                <a:ea typeface="Inter 24pt Regular" panose="02000503000000020004" pitchFamily="2" charset="0"/>
              </a:rPr>
              <a:t>Использование встроенной подсистемы безопасности ASP.NET Core </a:t>
            </a:r>
            <a:r>
              <a:rPr lang="en-US" sz="2400" dirty="0">
                <a:solidFill>
                  <a:srgbClr val="4A5568"/>
                </a:solidFill>
                <a:latin typeface="Inter 24pt Regular" panose="02000503000000020004" pitchFamily="2" charset="0"/>
                <a:ea typeface="Inter 24pt Regular" panose="02000503000000020004" pitchFamily="2" charset="0"/>
              </a:rPr>
              <a:t>Identity</a:t>
            </a:r>
            <a:r>
              <a:rPr lang="ru-RU" sz="2400" dirty="0">
                <a:solidFill>
                  <a:srgbClr val="4A5568"/>
                </a:solidFill>
                <a:latin typeface="Inter 24pt Regular" panose="02000503000000020004" pitchFamily="2" charset="0"/>
                <a:ea typeface="Inter 24pt Regular" panose="02000503000000020004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326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9B670-60FF-0972-2045-BEE8D1664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Бизнес-логика и Сервисный слой (Архитектура кода)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5ECE69-FFBD-0AC6-50BB-33E7CA508F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77374"/>
            <a:ext cx="10515600" cy="4020358"/>
          </a:xfrm>
        </p:spPr>
        <p:txBody>
          <a:bodyPr/>
          <a:lstStyle/>
          <a:p>
            <a:r>
              <a:rPr lang="ru-RU" dirty="0"/>
              <a:t>Разделение зон ответственности (</a:t>
            </a:r>
            <a:r>
              <a:rPr lang="ru-RU" dirty="0" err="1"/>
              <a:t>Separation</a:t>
            </a:r>
            <a:r>
              <a:rPr lang="ru-RU" dirty="0"/>
              <a:t> </a:t>
            </a:r>
            <a:r>
              <a:rPr lang="ru-RU" dirty="0" err="1"/>
              <a:t>of</a:t>
            </a:r>
            <a:r>
              <a:rPr lang="ru-RU" dirty="0"/>
              <a:t> </a:t>
            </a:r>
            <a:r>
              <a:rPr lang="ru-RU" dirty="0" err="1"/>
              <a:t>Concerns</a:t>
            </a:r>
            <a:r>
              <a:rPr lang="ru-RU" dirty="0"/>
              <a:t>).</a:t>
            </a:r>
          </a:p>
          <a:p>
            <a:endParaRPr lang="ru-RU" dirty="0"/>
          </a:p>
          <a:p>
            <a:r>
              <a:rPr lang="ru-RU" dirty="0"/>
              <a:t>Тонкие контроллеры: отвечают только за HTTP-маршрутизацию.</a:t>
            </a:r>
          </a:p>
          <a:p>
            <a:endParaRPr lang="ru-RU" dirty="0"/>
          </a:p>
          <a:p>
            <a:r>
              <a:rPr lang="ru-RU" dirty="0"/>
              <a:t>Сервисный слой (</a:t>
            </a:r>
            <a:r>
              <a:rPr lang="ru-RU" dirty="0" err="1"/>
              <a:t>IDealService</a:t>
            </a:r>
            <a:r>
              <a:rPr lang="ru-RU" dirty="0"/>
              <a:t>): инкапсулирует всю бизнес-логику, транзакции в БД и маппинг в DTO.</a:t>
            </a:r>
          </a:p>
          <a:p>
            <a:endParaRPr lang="ru-RU" dirty="0"/>
          </a:p>
          <a:p>
            <a:r>
              <a:rPr lang="ru-RU" dirty="0"/>
              <a:t>Оптимизация производительности с помощью </a:t>
            </a:r>
            <a:r>
              <a:rPr lang="ru-RU" dirty="0" err="1"/>
              <a:t>AsNoTracking</a:t>
            </a:r>
            <a:r>
              <a:rPr lang="ru-RU" dirty="0"/>
              <a:t>() для операций чтения.</a:t>
            </a:r>
          </a:p>
        </p:txBody>
      </p:sp>
    </p:spTree>
    <p:extLst>
      <p:ext uri="{BB962C8B-B14F-4D97-AF65-F5344CB8AC3E}">
        <p14:creationId xmlns:p14="http://schemas.microsoft.com/office/powerpoint/2010/main" val="3219801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C6D022-EDEC-9748-E2ED-D1D2018BE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интерактивной воронки продаж (Канбан)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3FC786-798B-F344-C446-458EAE0BC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27168"/>
            <a:ext cx="3243532" cy="4894352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Жизненный цикл сделки строго ограничен 4 статусами: </a:t>
            </a:r>
            <a:r>
              <a:rPr lang="ru-RU" dirty="0" err="1"/>
              <a:t>new</a:t>
            </a:r>
            <a:r>
              <a:rPr lang="ru-RU" dirty="0"/>
              <a:t>, </a:t>
            </a:r>
            <a:r>
              <a:rPr lang="ru-RU" dirty="0" err="1"/>
              <a:t>in</a:t>
            </a:r>
            <a:r>
              <a:rPr lang="ru-RU" dirty="0"/>
              <a:t> </a:t>
            </a:r>
            <a:r>
              <a:rPr lang="ru-RU" dirty="0" err="1"/>
              <a:t>progress</a:t>
            </a:r>
            <a:r>
              <a:rPr lang="ru-RU" dirty="0"/>
              <a:t>, </a:t>
            </a:r>
            <a:r>
              <a:rPr lang="ru-RU" dirty="0" err="1"/>
              <a:t>won</a:t>
            </a:r>
            <a:r>
              <a:rPr lang="ru-RU" dirty="0"/>
              <a:t>, </a:t>
            </a:r>
            <a:r>
              <a:rPr lang="ru-RU" dirty="0" err="1"/>
              <a:t>lost</a:t>
            </a:r>
            <a:r>
              <a:rPr lang="ru-RU" dirty="0"/>
              <a:t>.</a:t>
            </a:r>
          </a:p>
          <a:p>
            <a:r>
              <a:rPr lang="ru-RU" dirty="0"/>
              <a:t>Реализация </a:t>
            </a:r>
            <a:r>
              <a:rPr lang="ru-RU" dirty="0" err="1"/>
              <a:t>Drag-and-Drop</a:t>
            </a:r>
            <a:r>
              <a:rPr lang="ru-RU" dirty="0"/>
              <a:t> на клиенте через Sortable.js.</a:t>
            </a:r>
          </a:p>
          <a:p>
            <a:r>
              <a:rPr lang="ru-RU" dirty="0"/>
              <a:t>Асинхронное обновление через </a:t>
            </a:r>
            <a:r>
              <a:rPr lang="ru-RU" dirty="0" err="1"/>
              <a:t>htmx</a:t>
            </a:r>
            <a:r>
              <a:rPr lang="ru-RU" dirty="0"/>
              <a:t> с частичным рендерингом (</a:t>
            </a:r>
            <a:r>
              <a:rPr lang="ru-RU" dirty="0" err="1"/>
              <a:t>Partial</a:t>
            </a:r>
            <a:r>
              <a:rPr lang="ru-RU" dirty="0"/>
              <a:t> View).</a:t>
            </a:r>
          </a:p>
          <a:p>
            <a:endParaRPr lang="ru-RU" dirty="0"/>
          </a:p>
        </p:txBody>
      </p:sp>
      <p:pic>
        <p:nvPicPr>
          <p:cNvPr id="6" name="Рисунок 5" descr="Изображение выглядит как текст, снимок экрана, программное обеспечение, диспле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2327310-CBE7-E28A-2172-5E3AD29C96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538" y="1670346"/>
            <a:ext cx="8558364" cy="5187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847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ED2171-3F0F-F120-7253-4D2921934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Функциональные возможности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6429BF6-6829-34A6-C6E0-CCCF4EE1B3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494" y="1920515"/>
            <a:ext cx="7020464" cy="4351338"/>
          </a:xfrm>
        </p:spPr>
        <p:txBody>
          <a:bodyPr/>
          <a:lstStyle/>
          <a:p>
            <a:r>
              <a:rPr lang="ru-RU" dirty="0" err="1"/>
              <a:t>Дашборд</a:t>
            </a:r>
            <a:r>
              <a:rPr lang="ru-RU" dirty="0"/>
              <a:t> аналитики: Расчет KPI, конверсии (</a:t>
            </a:r>
            <a:r>
              <a:rPr lang="ru-RU" dirty="0" err="1"/>
              <a:t>Win</a:t>
            </a:r>
            <a:r>
              <a:rPr lang="ru-RU" dirty="0"/>
              <a:t> Rate) и графики Chart.js.</a:t>
            </a:r>
          </a:p>
          <a:p>
            <a:endParaRPr lang="ru-RU" dirty="0"/>
          </a:p>
          <a:p>
            <a:r>
              <a:rPr lang="ru-RU" dirty="0"/>
              <a:t>Умная лента активностей: Динамический фильтр задач с переключением сетки (список / плитка) на базе CSS-анимаций.</a:t>
            </a:r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Панель администратора: Контроль заблокированных пользователей и управление правами менеджеров.</a:t>
            </a:r>
          </a:p>
        </p:txBody>
      </p:sp>
      <p:pic>
        <p:nvPicPr>
          <p:cNvPr id="6" name="Рисунок 5" descr="Изображение выглядит как текст, снимок экрана, диаграмма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145D04B0-F671-6CA9-1432-FD9ACF087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4956" y="1976078"/>
            <a:ext cx="4400550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235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CD11D1-CC4C-968E-1CC2-2E44C6AFC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6C106A3-D540-BE69-A126-784A02264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Результаты работы: Разработан полностью готовый к эксплуатации прототип CRM-системы с разделением ролей.</a:t>
            </a:r>
          </a:p>
          <a:p>
            <a:endParaRPr lang="ru-RU" dirty="0"/>
          </a:p>
          <a:p>
            <a:r>
              <a:rPr lang="ru-RU" dirty="0"/>
              <a:t>Научно-практическая ценность: Продемонстрирована эффективность гибридного </a:t>
            </a:r>
            <a:r>
              <a:rPr lang="ru-RU" dirty="0" err="1"/>
              <a:t>фронтенда</a:t>
            </a:r>
            <a:r>
              <a:rPr lang="ru-RU" dirty="0"/>
              <a:t> (</a:t>
            </a:r>
            <a:r>
              <a:rPr lang="ru-RU" dirty="0" err="1"/>
              <a:t>htmx</a:t>
            </a:r>
            <a:r>
              <a:rPr lang="ru-RU" dirty="0"/>
              <a:t>) в </a:t>
            </a:r>
            <a:r>
              <a:rPr lang="ru-RU" dirty="0" err="1"/>
              <a:t>enterprise</a:t>
            </a:r>
            <a:r>
              <a:rPr lang="ru-RU" dirty="0"/>
              <a:t>-приложениях.</a:t>
            </a:r>
          </a:p>
          <a:p>
            <a:endParaRPr lang="ru-RU" dirty="0"/>
          </a:p>
          <a:p>
            <a:r>
              <a:rPr lang="ru-RU" dirty="0"/>
              <a:t>Планы развития: Интеграция с почтовыми сервисами и внедрение ИИ-ассистента для автоматического анализа истории сделок.</a:t>
            </a:r>
          </a:p>
        </p:txBody>
      </p:sp>
    </p:spTree>
    <p:extLst>
      <p:ext uri="{BB962C8B-B14F-4D97-AF65-F5344CB8AC3E}">
        <p14:creationId xmlns:p14="http://schemas.microsoft.com/office/powerpoint/2010/main" val="372930261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Другая 1">
      <a:dk1>
        <a:srgbClr val="2D3748"/>
      </a:dk1>
      <a:lt1>
        <a:sysClr val="window" lastClr="FFFFFF"/>
      </a:lt1>
      <a:dk2>
        <a:srgbClr val="4A5568"/>
      </a:dk2>
      <a:lt2>
        <a:srgbClr val="E7E6E6"/>
      </a:lt2>
      <a:accent1>
        <a:srgbClr val="2B6CB0"/>
      </a:accent1>
      <a:accent2>
        <a:srgbClr val="38B2AC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370</Words>
  <Application>Microsoft Office PowerPoint</Application>
  <PresentationFormat>Широкоэкранный</PresentationFormat>
  <Paragraphs>45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Calibri</vt:lpstr>
      <vt:lpstr>Inter 18pt Regular</vt:lpstr>
      <vt:lpstr>Inter 24pt Regular</vt:lpstr>
      <vt:lpstr>Montserrat SemiBold</vt:lpstr>
      <vt:lpstr>Times New Roman</vt:lpstr>
      <vt:lpstr>Тема Office</vt:lpstr>
      <vt:lpstr>Разработка веб-ориентированной CRM-системы</vt:lpstr>
      <vt:lpstr>Актуальность и Цели</vt:lpstr>
      <vt:lpstr>Технологический стек</vt:lpstr>
      <vt:lpstr>Архитектура базы данных и подсистема безопасности</vt:lpstr>
      <vt:lpstr>Бизнес-логика и Сервисный слой (Архитектура кода)</vt:lpstr>
      <vt:lpstr>Реализация интерактивной воронки продаж (Канбан)</vt:lpstr>
      <vt:lpstr>Функциональные возможности системы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Daniil</dc:creator>
  <cp:lastModifiedBy>Admin</cp:lastModifiedBy>
  <cp:revision>6</cp:revision>
  <dcterms:created xsi:type="dcterms:W3CDTF">2026-07-03T12:03:04Z</dcterms:created>
  <dcterms:modified xsi:type="dcterms:W3CDTF">2026-07-28T12:43:08Z</dcterms:modified>
</cp:coreProperties>
</file>